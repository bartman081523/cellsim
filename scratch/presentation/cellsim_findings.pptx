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6E9EF"/>
                </a:solidFill>
              </a:rPr>
              <a:t>cellsim — ein Falsifikationsprogramm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FC3F7"/>
                </a:solidFill>
              </a:rPr>
              <a:t>Was von 26 vorab-registrierten Vektoren an Evidenz übrig blieb — gemessen, repliziert, widerlegt.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A93A6"/>
                </a:solidFill>
              </a:rPr>
              <a:t>JCVI-syn3A-Simulation · L2–L4 · Stand 2026-09-24 · iter-1…26 gebucht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Methode: vorab registrieren, dann via negativa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556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6E9EF"/>
                </a:solidFill>
              </a:rPr>
              <a:t>Jeder Vektor (iter-1…26) ist VOR dem Lauf registriert: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Frage, Kriterien, Schwellen, Verdict-Namen — fixiert im Experiment-Docstring.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Post-hoc-Konsistenz wird NIE als Bestätigung gebucht; Abweichungen in ein CORREKTUR-LOG.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Jede Behauptung trägt einen Grade (A repliziert … F widerlegt) und einen Via-Negativa-Status.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Programm-Selbst-Audit (10 Via-Negativa-Tests, Stand 2026-09-21, dokumentiert):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4× A · 0× B · 8× C · 0×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A4150"/>
                </a:solidFill>
              </a:rPr>
              <a:t>Glossen: Vektor = eine vorab formulierte falsifizierbare Frage · Via negativa = Test versucht, die Behauptung zu töten · Registriert = Kriterien stehen vor dem Lauf fest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Das Phänomen: ein Damköhler-Fenster im Reaktionsfeld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6E9EF"/>
                </a:solidFill>
              </a:rPr>
              <a:t>Frage: Wann wird chemisches Muster im Zellinneren sichtbar?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Damköhler-Zahl = Verhältnis von Reaktions- zu Transportzeit —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sie entscheidet, ob ein Reaktionsfeld räumliche Struktur ausbildet.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Wir variierten den Umsatz k·dt über 4 Dekaden und fragten: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Wo wird das Feld signifikant anders als die dazugehörige Kontrolle?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Antwort-Signatur: DISTINCT — das Feld zeigt Struktur, die Kontrolle nicht 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A4150"/>
                </a:solidFill>
              </a:rPr>
              <a:t>Glossen: k·dt = katalytischer Faktor × Zeitschritt = Umsatz pro Zeitschritt · Kontrolle = gleicher Lauf mit k·dt = 0, seed-gepaart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Das Fenster überlebt drei Operator-Substrate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C01</a:t>
            </a:r>
          </a:p>
        </p:txBody>
      </p:sp>
      <p:pic>
        <p:nvPicPr>
          <p:cNvPr id="4" name="Window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05156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94919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</a:rPr>
              <a:t>DISTINCT 9/12 · 7/12 · 8/12 · Ordnung 3/3 · Sättigung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051560"/>
            <a:ext cx="3840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8A93A6"/>
                </a:solidFill>
              </a:rPr>
              <a:t>gemessen · Grade B · scratch/experiments/iter-{11,14,24}/result.json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Kriterium (registriert): Registriert: ≥6 DISTINCT → REPLICATED_STRONG; Klassifikation per-Seed ≥2/3 gegen seed-gepaarte Kontrolle (Schranke |LZ-diff| &gt; 0.05 oder corr_drop &gt; 0.3).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distinct_cells: 9/12 · 7/12 · 8/12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ordering: 3/3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saturation_return: True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Buchhaltungs-Note: registrierte Zähl-Schreibweise '≥6/9' vs 12 Treatment-Zellen — Diskrepanz offen gelegt, beide Lesungen ergeben dieselben Verdicts.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Operator-Archäologie: alter Operator fällt K1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C02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412480"/>
              </a:tblGrid>
              <a:tr h="49377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6E9EF"/>
                          </a:solidFill>
                        </a:defRPr>
                      </a:pPr>
                      <a:r>
                        <a:t>Metrik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6E9EF"/>
                          </a:solidFill>
                        </a:defRPr>
                      </a:pPr>
                      <a:r>
                        <a:t>neuer Operator (beidseitig, gemessen)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Varianz je Achse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2.00–2.01 / 5.98–6.02 / 17.99–18.05 (erwartet 2/6/18)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Varianz 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5.8e-03 (Schranke 3 %)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Drift je Achse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0.0107 (Schranke 0.05)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Beidseitigkeit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FC3F7"/>
                          </a:solidFill>
                        </a:defRPr>
                      </a:pPr>
                      <a:r>
                        <a:t>0.0141 (Schranke 0.1)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9476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5350"/>
                </a:solidFill>
              </a:rPr>
              <a:t>Alter Operator (einseitig, analytisch): Drift +1.0/+3.0/+9.0 Voxel = 20×/60×/180× über der Schranke; Varianz −50 %; Symmetrie-Ratio 1.0 (analytisch)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994A"/>
                </a:solidFill>
              </a:rPr>
              <a:t>Buchhaltungskorrektur: iter-14s Zeile „Kalibrierung ✅ p=𝒟 (6𝒟/Schritt)“ war gegen die damalige Implementation FALSCH — der beidseitige Operator (iter-15+) erfüllt sie erst; K1 misst das unabhängig (keine Selbst-Bezeugung durch den Docstring).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A4150"/>
                </a:solidFill>
              </a:rPr>
              <a:t>Glossen: K1 = Operator-Kalibrierungstest: Masse, Drift, Varianz, Beidseitigkeit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Der k-Sweep ist ein exaktes Damköhler-Gitter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6BB6A"/>
                </a:solidFill>
              </a:rPr>
              <a:t>4/4 Paare bit-identisch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6E9EF"/>
                </a:solidFill>
              </a:rPr>
              <a:t>λ = k·dt·n ist linear in k — der Sweep ist eine Reparametrisierung desselben Prozesses: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Konfig (k_f, dt) und (1, k_f·dt) erzeugen bit-identische Trajektorien in ALLEN Metrik-Feldern.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Konsequenz: alle k-Werte im Sweep messen dieselbe Physik auf einem feinen Damköhler-Gitter — kein Solver-Artefakt.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3776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8A93A6"/>
                </a:solidFill>
              </a:rPr>
              <a:t>gemessen · Grade B · scratch/experiments/iter-25/result.json (k4_equivalence)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Kriterium (registriert): Registriert: alle 4 Äquivalenz-Paare müssen in ALLEN Metrik-Feldern bit-identisch sein.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equivalence: 4/4 Paare bit-identisch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Sättigungs-Marge MODERATE: Kante vor der Sperre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C04</a:t>
            </a:r>
          </a:p>
        </p:txBody>
      </p:sp>
      <p:pic>
        <p:nvPicPr>
          <p:cNvPr id="4" name="Sweep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05156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94919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</a:rPr>
              <a:t>globale Kante 10 → SATURATION_MARGIN_MODERATE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051560"/>
            <a:ext cx="3840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8A93A6"/>
                </a:solidFill>
              </a:rPr>
              <a:t>gemessen · Grade B · scratch/experiments/iter-25/result.json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Kriterium (registriert): Registrierte Bande: NARROW &lt; 10× ≤ MODERATE &lt; 100× ≤ WIDE; Kante = größtes k_f mit DISTINCT; Oberende DISTINCT ⇒ nicht lokalisiert.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edges: D=0.05 → 10 · D=0.15 → 100 · D=0.45 → nicht lokalisiert (&gt;1e4)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global: globale Kante 10 → SATURATION_MARGIN_MODERATE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plateau: Events k-invariant ab k_f ≈ 300 (D≤0.15) / 1000 (D=0.45)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iter-26 (Feingitter, heute gebucht): D=0.05-Kante 10 bestätigt; Kantenfolge über D NICHT monoton (EDGE_D_NONMONOTONE, C12) — D=0.15 nicht lokalisiert (≥200).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Nicht behauptet: keine Aussage über reale syn3A-Enzymdichten — das Gitter misst die Robustheit des Simulators, nicht die Zelle.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Träger des Signals: LZ-Entropie, nicht Korrelation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6E9EF"/>
                </a:solidFill>
              </a:rPr>
              <a:t>0/39 Zellen (iter-24 + iter-25)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11155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6E9EF"/>
                </a:solidFill>
              </a:rPr>
              <a:t>Das registrierte Klassifikations-Kriterium feuert nur über den LZ-Arm: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0.025 · 0.024 vs Schranke 0.3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Das „Fenster“ ist ein Fenster in der temporalen Entropie-Struktur des Feldes (LZ der binarisierten Snapshots) —</a:t>
            </a:r>
          </a:p>
          <a:p>
            <a:pPr algn="l"/>
            <a:r>
              <a:rPr sz="1700" b="0">
                <a:solidFill>
                  <a:srgbClr val="E6E9EF"/>
                </a:solidFill>
              </a:rPr>
              <a:t>nicht in der Glucose-ATP-Korrelation. Repliziert über alle Substrate der Kette.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A4150"/>
                </a:solidFill>
              </a:rPr>
              <a:t>Glossen: LZ-Entropie = Kompressionslänge der binarisierten Feld-Snapshots · corr_drop = Abfall der Glucose-ATP-Kreuzkorrelation gegen Kontrolle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77840"/>
            <a:ext cx="5943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8A93A6"/>
                </a:solidFill>
              </a:rPr>
              <a:t>gemessen · Grade B · scratch/experiments/iter-{24,25}/result.json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Kriterium (registriert): Schranke registriert in iter-24/25: DISTINCT wenn corr_drop &gt; 0.3 ODER lz_diff &gt; 0.05.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corr_fires: 0/39 Zellen (iter-24 + iter-25)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max_drop: 0.025 · 0.024 vs Schranke 0.3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Orch-OR in syn3A: drei Kanäle, drei Falsifikationen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C07 · C08 · C09 · C10</a:t>
            </a:r>
          </a:p>
        </p:txBody>
      </p:sp>
      <p:pic>
        <p:nvPicPr>
          <p:cNvPr id="4" name="Gates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051560"/>
            <a:ext cx="6766560" cy="3806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949190"/>
            <a:ext cx="6766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6E9EF"/>
                </a:solidFill>
              </a:rPr>
              <a:t>S_max 9.9e+03 vs S_need 6.1e+05 (Faktor 62 zu wenig)</a:t>
            </a:r>
          </a:p>
          <a:p>
            <a:pPr algn="l"/>
            <a:r>
              <a:rPr sz="1200" b="0">
                <a:solidFill>
                  <a:srgbClr val="E6E9EF"/>
                </a:solidFill>
              </a:rPr>
              <a:t>N* 1.74e+11 vs Box-Decke 1e11 · 5.65e-05/s bei r = 100 nm — 1771× unter Fenster-Unterkante (0.1/s)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051560"/>
            <a:ext cx="38404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8A93A6"/>
                </a:solidFill>
              </a:rPr>
              <a:t>gemessen · Grade C · scratch/experiments/iter-21/result.json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Kriterium (registriert): Ortsgelöstes Dekohärenz-Feld Γ(r) = Γ_bulk·(φ + (1−φ)·ε_res); S_max = 1/(φ_floor + ε_opt).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gap: S_max 9.9e+03 vs S_need 6.1e+05 (Faktor 62 zu wenig)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Kontext (C07): die iter-7 Orch-OR-Formel war dimensional invalid — τ=5.65e-37 s ein Formel-Artefakt; korrigierte Penrose-Skala: τ_OR(Dimer) ≈ 3.8e11 s, bestes Ecke-Verhältnis 0.61 (Hagan-Parametrisierung).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Kick (C09): 1.6e-10 k_B·T pro Event pro Event.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Photonik (C10): Burst-Invarianz: |ΔNorm| = 2.8e-16 (rel).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Negativ-Resultat mit gleicher Würde: kein Turing-Substrat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F5350"/>
                </a:solidFill>
              </a:rPr>
              <a:t>Registrierte Turing-Kompetenz der Reaktions-Registry: FALSIFIZIERT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1155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6E9EF"/>
                </a:solidFill>
              </a:rPr>
              <a:t>0/20 Netto-Reaktionen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0 Verstärkungs-Zyklen (48 Conversion-Zyklen)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max Re(λ) = -1.2e-04 &lt; 0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Attraktor ATP = 0 (Residual 8.6e-9)</a:t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E6E9EF"/>
                </a:solidFill>
              </a:rPr>
              <a:t>Konsequenz: Turing-Muster sind mit dieser Registry nicht erzielbar — der Schnakenberg-Kern (iter-17/19) blieb ein künstlicher Import. iter-19-Diskrimination void (Stencil-Fehler in der Registrierung).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5943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8A93A6"/>
                </a:solidFill>
              </a:rPr>
              <a:t>gemessen · Grade B · scratch/experiments/iter-20/result.json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Kriterium (registriert): Turing-Instabilität verlangt Re(λ) &gt; 0 bei endlichem k; Autokatalyse verlangt positive Netto-Stöchiometrie-Selbstverstärkung.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autocatalysis: 0/20 Netto-Reaktionen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cycles: 0 Verstärkungs-Zyklen (48 Conversion-Zyklen)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jacobian: max Re(λ) = -1.2e-04 &lt; 0</a:t>
            </a:r>
          </a:p>
          <a:p>
            <a:pPr algn="l"/>
            <a:r>
              <a:rPr sz="1250" b="0">
                <a:solidFill>
                  <a:srgbClr val="8A93A6"/>
                </a:solidFill>
              </a:rPr>
              <a:t>dead: Attraktor ATP = 0 (Residual 8.6e-9)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Gesamtbild: Evidenz-Lage nach 26 gebuchten Vektoren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5852160"/>
                <a:gridCol w="1280160"/>
              </a:tblGrid>
              <a:tr h="37982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1116"/>
                          </a:solidFill>
                        </a:defRPr>
                      </a:pPr>
                      <a:r>
                        <a:t>Vektor / Modul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1116"/>
                          </a:solidFill>
                        </a:defRPr>
                      </a:pPr>
                      <a:r>
                        <a:t>Behauptung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1116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Damköhler-Fenster iter-11→14→24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überlebt Operator-, Gitter-, Seed-Wechsel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Operator-Kalibrierung K1 (iter-24)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beidseitig driftfrei, kalibriert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k·dt-Äquivalenz (iter-25 K4)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4/4 bit-identisch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Sättigungs-Marge (iter-25)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MODERATE, Kante k_f=10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Feine Kante + D-Abhängigkeit (iter-26)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EDGE_D_NONMONOTONE — kein zusammenhängendes Band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LZ-Trägerschaft (iter-24/25)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corr feuert nie (0/39)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Orch-OR-Gates (iter-21/22/23)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drei Kanäle entwertet / inert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994A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Registry-Turing (iter-20)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KEIN Substrat — FALSIFIZIERT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GPU-Operator (iter-24)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33× Beschleunigung, G1–G5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BB6A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Fröhlich-Stub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max 5 % ATP, kontrovers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994A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MES-Stub (L1)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Zustandsmaschine, keine Theorie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994A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3A4150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QuQuint-Benchmark (L4)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6E9EF"/>
                          </a:solidFill>
                        </a:defRPr>
                      </a:pPr>
                      <a:r>
                        <a:t>1.1×–1.3× statt 1000×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2994A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Grades: A repliziert · B gut designt · C Beobachtung · D Einzelstudie · E unbelegt — B/C hier nach Via-Negativa-Audit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6E9EF"/>
                </a:solidFill>
              </a:rPr>
              <a:t>Frische Falsifikation + offene Fragen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4FC3F7"/>
                </a:solidFill>
              </a:rPr>
              <a:t>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F5350"/>
                </a:solidFill>
              </a:rPr>
              <a:t>D=0.05 → 10 · D=0.1 → 3 · D=0.15 → ≥200 (n.lok.) · D=0.25 → 30 · D=0.3 → ≥1000 (n.lok.) (D=0.45 iter-25, rechtszensiert)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6E9EF"/>
                </a:solidFill>
              </a:rPr>
              <a:t>4/5 Anker mit internen NULLs — Zellflips zwischen benachbarten k_f</a:t>
            </a:r>
          </a:p>
          <a:p>
            <a:pPr algn="l"/>
            <a:r>
              <a:rPr sz="1500" b="0">
                <a:solidFill>
                  <a:srgbClr val="E6E9EF"/>
                </a:solidFill>
              </a:rPr>
              <a:t>LZgrw -0.049…+0.081 straddelt die ±0.05-Schwelle</a:t>
            </a:r>
          </a:p>
          <a:p>
            <a:pPr algn="l"/>
            <a:r>
              <a:rPr sz="1500" b="0">
                <a:solidFill>
                  <a:srgbClr val="E6E9EF"/>
                </a:solidFill>
              </a:rPr>
              <a:t>K1 PASS · K2 bit-identisch · K4a 2/2 · K5 9/9 bit-identisch zu iter-25</a:t>
            </a:r>
          </a:p>
          <a:p>
            <a:pPr algn="l"/>
            <a:r>
              <a:rPr sz="150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E6E9EF"/>
                </a:solidFill>
              </a:rPr>
              <a:t>iter-26 (heute gebucht): D=0.05-Kante 10 exakt bestätigt (EDGE_UPPER_CONFIRMED) — aber die „Kante wächst mit D“-Lesung aus iter-25 ist tot: D=0.10 → 3 (unter D=0.05), D=0.15 ≥200 (n.lok.), D=0.25 → 30, D=0.30 ≥1000 (n.lok.). Die Klassifikation straddelt die LZ-Schwelle — kein Band, rauschdominiert oder echte Struktur: offen.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29000"/>
            <a:ext cx="11155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E6E9EF"/>
                </a:solidFill>
              </a:rPr>
              <a:t>Offen (registriert, geplant):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· VECTOR_STOCH_CONTROL_METRIC — Klassifikationstiefe relativ zum Kontroll-Floor statt Schwellen-Crossing (jetzt dreifach motiviert: iter-24 Zellrauschen, iter-25 schwache Kante, iter-26 NONMONOTONE)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· VECTOR_ENDOGEN_UVC_TIMESCALE (iter-12/13) — endogene Zeitskala der UVC-Kopplung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· reserviert iter-19b: VECTOR_SHELL1_CASCADE — Schale-1-Anomalie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· VECTOR_UV_SYNC_REOPEN (iter-16) — UV-Synchronisation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/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Nicht behauptet: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· keine Aussage über reale syn3A-Enzymdichten (Smoke-Scope 60 s, kein 105-min-Zyklus)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· L1/MES nicht implementiert — Rosen-Horizont bleibt</a:t>
            </a:r>
          </a:p>
          <a:p>
            <a:pPr algn="l"/>
            <a:r>
              <a:rPr sz="1350" b="0">
                <a:solidFill>
                  <a:srgbClr val="E6E9EF"/>
                </a:solidFill>
              </a:rPr>
              <a:t>· Orch-OR: Beweislast in der Box gezeigt, nicht in der Biologie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</a:rPr>
              <a:t>Medium + Audit: scratch/presentation/ — jede Caption gegen Quelldaten recomputierbar (claims.json, audit_report.md).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